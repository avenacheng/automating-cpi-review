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72" r:id="rId4"/>
    <p:sldId id="258" r:id="rId5"/>
    <p:sldId id="269" r:id="rId6"/>
    <p:sldId id="307" r:id="rId7"/>
    <p:sldId id="265" r:id="rId8"/>
    <p:sldId id="297" r:id="rId9"/>
    <p:sldId id="259" r:id="rId10"/>
    <p:sldId id="260" r:id="rId11"/>
    <p:sldId id="263" r:id="rId12"/>
    <p:sldId id="261" r:id="rId13"/>
    <p:sldId id="308" r:id="rId14"/>
    <p:sldId id="262" r:id="rId15"/>
    <p:sldId id="274" r:id="rId16"/>
    <p:sldId id="298" r:id="rId17"/>
    <p:sldId id="300" r:id="rId18"/>
    <p:sldId id="291" r:id="rId19"/>
    <p:sldId id="285" r:id="rId20"/>
    <p:sldId id="299" r:id="rId21"/>
    <p:sldId id="302" r:id="rId22"/>
    <p:sldId id="301" r:id="rId23"/>
    <p:sldId id="303" r:id="rId24"/>
    <p:sldId id="293" r:id="rId25"/>
    <p:sldId id="294" r:id="rId26"/>
    <p:sldId id="295" r:id="rId27"/>
    <p:sldId id="305" r:id="rId28"/>
    <p:sldId id="310" r:id="rId29"/>
    <p:sldId id="312" r:id="rId30"/>
    <p:sldId id="311" r:id="rId31"/>
    <p:sldId id="304" r:id="rId32"/>
    <p:sldId id="296" r:id="rId33"/>
    <p:sldId id="279" r:id="rId34"/>
    <p:sldId id="31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1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A5212-C8A5-49C8-A562-A26F4AF98A92}" type="datetimeFigureOut">
              <a:rPr lang="en-US" smtClean="0"/>
              <a:t>8/8/2019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42FBC-598B-4AEB-B846-B6CA0A1F01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7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42FBC-598B-4AEB-B846-B6CA0A1F01C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752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42FBC-598B-4AEB-B846-B6CA0A1F01C8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59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42FBC-598B-4AEB-B846-B6CA0A1F01C8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42FBC-598B-4AEB-B846-B6CA0A1F01C8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684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342FBC-598B-4AEB-B846-B6CA0A1F01C8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2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achinelearningmastery.com/why-one-hot-encode-data-in-machine-learning/" TargetMode="External"/><Relationship Id="rId2" Type="http://schemas.openxmlformats.org/officeDocument/2006/relationships/hyperlink" Target="https://whatis.techtarget.com/definition/over-sampling-and-under-sampl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hyperlink" Target="https://skymind.com/wiki/bagofwords-tf-i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taplapinger/tuning-a-random-forest-classifier-1b252d1dde92" TargetMode="External"/><Relationship Id="rId2" Type="http://schemas.openxmlformats.org/officeDocument/2006/relationships/hyperlink" Target="https://towardsdatascience.com/understanding-random-forest-58381e0602d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learnbymarketing.com/481/decision-tree-flavors-gini-info-gain/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lbany AMT" panose="020B0604020202020204" pitchFamily="34" charset="0"/>
                <a:cs typeface="Albany AMT" panose="020B0604020202020204" pitchFamily="34" charset="0"/>
              </a:rPr>
              <a:t>Automating SPEC REVIEWS FOR THE CPI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105015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Avena Cheng</a:t>
            </a:r>
          </a:p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Data Science Fellow</a:t>
            </a:r>
          </a:p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Office of Prices and Living Conditions</a:t>
            </a:r>
          </a:p>
        </p:txBody>
      </p:sp>
    </p:spTree>
    <p:extLst>
      <p:ext uri="{BB962C8B-B14F-4D97-AF65-F5344CB8AC3E}">
        <p14:creationId xmlns:p14="http://schemas.microsoft.com/office/powerpoint/2010/main" val="3339118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219960"/>
            <a:ext cx="10820400" cy="40241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u="sng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BACKGROUND</a:t>
            </a:r>
            <a:endParaRPr lang="en-US" sz="2000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  <a:p>
            <a:r>
              <a:rPr lang="en-US" sz="2000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The CPI requires products to be reviewed by Commodity Analysts every month to calculate price indices.</a:t>
            </a:r>
          </a:p>
          <a:p>
            <a:pPr marL="0" indent="0">
              <a:buNone/>
            </a:pPr>
            <a:endParaRPr lang="en-US" sz="2000" u="sng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  <a:p>
            <a:pPr marL="0" indent="0">
              <a:buNone/>
            </a:pPr>
            <a:r>
              <a:rPr lang="en-US" sz="2000" u="sng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PROBLEM</a:t>
            </a:r>
          </a:p>
          <a:p>
            <a:r>
              <a:rPr lang="en-US" sz="2000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Currently &lt; 25% of new items and &lt; 12% of current items require a CA’s attention</a:t>
            </a:r>
          </a:p>
          <a:p>
            <a:r>
              <a:rPr lang="en-US" sz="2000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The current system filter has a 29% accuracy.</a:t>
            </a:r>
          </a:p>
          <a:p>
            <a:pPr marL="0" indent="0">
              <a:buNone/>
            </a:pPr>
            <a:endParaRPr lang="en-US" sz="2000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  <a:p>
            <a:pPr marL="0" indent="0">
              <a:buNone/>
            </a:pPr>
            <a:r>
              <a:rPr lang="en-US" sz="2000" u="sng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GOAL/IMPACT</a:t>
            </a:r>
          </a:p>
          <a:p>
            <a:r>
              <a:rPr lang="en-US" sz="2000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Use machine learning to automate the review process and save time, money, and labor.</a:t>
            </a:r>
          </a:p>
        </p:txBody>
      </p:sp>
    </p:spTree>
    <p:extLst>
      <p:ext uri="{BB962C8B-B14F-4D97-AF65-F5344CB8AC3E}">
        <p14:creationId xmlns:p14="http://schemas.microsoft.com/office/powerpoint/2010/main" val="343353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INFRASTUCTURE</a:t>
            </a:r>
          </a:p>
        </p:txBody>
      </p:sp>
      <p:cxnSp>
        <p:nvCxnSpPr>
          <p:cNvPr id="13" name="Elbow Connector 12"/>
          <p:cNvCxnSpPr>
            <a:stCxn id="10" idx="0"/>
            <a:endCxn id="34" idx="1"/>
          </p:cNvCxnSpPr>
          <p:nvPr/>
        </p:nvCxnSpPr>
        <p:spPr>
          <a:xfrm rot="5400000" flipH="1" flipV="1">
            <a:off x="6424824" y="2735627"/>
            <a:ext cx="585938" cy="1461980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89875" y="2716317"/>
            <a:ext cx="1213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NeueforSAS Light" panose="020B0403020202020204" pitchFamily="34" charset="0"/>
              </a:rPr>
              <a:t>Triggered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52939" y="5040293"/>
            <a:ext cx="121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NeueforSAS Light" panose="020B0403020202020204" pitchFamily="34" charset="0"/>
              </a:rPr>
              <a:t>Not</a:t>
            </a:r>
          </a:p>
          <a:p>
            <a:pPr algn="ctr"/>
            <a:r>
              <a:rPr lang="en-US" dirty="0">
                <a:latin typeface="HelveticaNeueforSAS Light" panose="020B0403020202020204" pitchFamily="34" charset="0"/>
              </a:rPr>
              <a:t>Triggered</a:t>
            </a:r>
          </a:p>
        </p:txBody>
      </p:sp>
      <p:cxnSp>
        <p:nvCxnSpPr>
          <p:cNvPr id="31" name="Straight Arrow Connector 30"/>
          <p:cNvCxnSpPr/>
          <p:nvPr/>
        </p:nvCxnSpPr>
        <p:spPr>
          <a:xfrm flipV="1">
            <a:off x="2038128" y="4090714"/>
            <a:ext cx="599089" cy="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34545" y="3775405"/>
            <a:ext cx="121394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Incoming Quotes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4261078" y="4098570"/>
            <a:ext cx="599089" cy="785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637214" y="3157934"/>
            <a:ext cx="1718449" cy="1938992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spAutoFit/>
          </a:bodyPr>
          <a:lstStyle/>
          <a:p>
            <a:pPr algn="ctr"/>
            <a:endParaRPr lang="en-US" sz="2800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SYSTEM FILTER</a:t>
            </a:r>
          </a:p>
          <a:p>
            <a:pPr algn="ctr"/>
            <a:endParaRPr lang="en-US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  <a:p>
            <a:pPr algn="ctr"/>
            <a:endParaRPr lang="en-US" dirty="0">
              <a:solidFill>
                <a:schemeClr val="bg1"/>
              </a:solidFill>
              <a:latin typeface="HelveticaNeueforSAS Light" panose="020B0403020202020204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69356" y="4474982"/>
            <a:ext cx="121394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Doesn’t go to CA</a:t>
            </a:r>
            <a:endParaRPr lang="en-US" b="1" dirty="0">
              <a:solidFill>
                <a:schemeClr val="bg1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cxnSp>
        <p:nvCxnSpPr>
          <p:cNvPr id="36" name="Elbow Connector 35"/>
          <p:cNvCxnSpPr/>
          <p:nvPr/>
        </p:nvCxnSpPr>
        <p:spPr>
          <a:xfrm rot="5400000" flipH="1" flipV="1">
            <a:off x="8394268" y="2037239"/>
            <a:ext cx="601705" cy="1237585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/>
          <p:cNvCxnSpPr/>
          <p:nvPr/>
        </p:nvCxnSpPr>
        <p:spPr>
          <a:xfrm rot="16200000" flipH="1">
            <a:off x="8411274" y="3122462"/>
            <a:ext cx="540118" cy="1225755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48783" y="2850482"/>
            <a:ext cx="1213945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Goes to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3475" y="3759586"/>
            <a:ext cx="1246656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Filtered</a:t>
            </a:r>
          </a:p>
          <a:p>
            <a:pPr algn="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Quotes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6019" y="2059626"/>
            <a:ext cx="171847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Reviews w/ change</a:t>
            </a:r>
            <a:endParaRPr lang="en-US" b="1" dirty="0">
              <a:solidFill>
                <a:schemeClr val="bg1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06019" y="3697999"/>
            <a:ext cx="1718479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HelveticaNeueforSAS Light" panose="020B0403020202020204" pitchFamily="34" charset="0"/>
              </a:rPr>
              <a:t>Reviews w/ no change</a:t>
            </a:r>
            <a:endParaRPr lang="en-US" b="1" dirty="0">
              <a:solidFill>
                <a:schemeClr val="bg1"/>
              </a:solidFill>
              <a:latin typeface="Albany AMT" panose="020B0604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 rot="16200000">
            <a:off x="4412857" y="3667222"/>
            <a:ext cx="1600114" cy="70788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cap="none" spc="0" dirty="0">
                <a:ln w="0"/>
                <a:solidFill>
                  <a:schemeClr val="accent3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HelveticaNeueforSAS Light" panose="020B0403020202020204" pitchFamily="34" charset="0"/>
              </a:rPr>
              <a:t>Model</a:t>
            </a:r>
          </a:p>
        </p:txBody>
      </p:sp>
      <p:cxnSp>
        <p:nvCxnSpPr>
          <p:cNvPr id="47" name="Elbow Connector 46"/>
          <p:cNvCxnSpPr>
            <a:stCxn id="10" idx="2"/>
          </p:cNvCxnSpPr>
          <p:nvPr/>
        </p:nvCxnSpPr>
        <p:spPr>
          <a:xfrm rot="16200000" flipH="1">
            <a:off x="6414837" y="3977883"/>
            <a:ext cx="618610" cy="1474678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739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Data science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Explore, clean and merge datasets</a:t>
            </a:r>
          </a:p>
          <a:p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Model Building</a:t>
            </a:r>
          </a:p>
          <a:p>
            <a:pPr lvl="1"/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Logistic Regression, Random Forest, </a:t>
            </a:r>
            <a:r>
              <a:rPr lang="en-US" sz="2400" dirty="0" err="1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XGBoost</a:t>
            </a:r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, Neural Net, Naïve Bayes, etc.</a:t>
            </a:r>
          </a:p>
          <a:p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Feature Engineering</a:t>
            </a:r>
          </a:p>
          <a:p>
            <a:pPr lvl="1"/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View feature importance to identify underlying patterns/relationships</a:t>
            </a:r>
          </a:p>
          <a:p>
            <a:pPr lvl="1"/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Create new features that may be used to improve the model</a:t>
            </a:r>
          </a:p>
          <a:p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Cross – Validation / Testing</a:t>
            </a:r>
          </a:p>
          <a:p>
            <a:pPr lvl="1"/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Use cross validation to verify the accuracy of your model</a:t>
            </a:r>
          </a:p>
          <a:p>
            <a:pPr lvl="1"/>
            <a:r>
              <a:rPr lang="en-US" sz="24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Test with new, unseen data</a:t>
            </a:r>
          </a:p>
        </p:txBody>
      </p:sp>
    </p:spTree>
    <p:extLst>
      <p:ext uri="{BB962C8B-B14F-4D97-AF65-F5344CB8AC3E}">
        <p14:creationId xmlns:p14="http://schemas.microsoft.com/office/powerpoint/2010/main" val="3178671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NOTES ABOUT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16443"/>
            <a:ext cx="10820400" cy="4931197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Used quote, spec, </a:t>
            </a:r>
            <a:r>
              <a:rPr lang="en-US" sz="2800" dirty="0" err="1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spec_changes</a:t>
            </a:r>
            <a:r>
              <a:rPr lang="en-US" sz="28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, and review datasets</a:t>
            </a:r>
            <a:endParaRPr lang="en-US" sz="2400" dirty="0">
              <a:latin typeface="HelveticaNeueforSAS Light" panose="020B0403020202020204" pitchFamily="34" charset="0"/>
              <a:ea typeface="HeiT" panose="020B0502000000000001" pitchFamily="34" charset="-120"/>
              <a:cs typeface="Albany AMT" panose="020B0604020202020204" pitchFamily="34" charset="0"/>
            </a:endParaRPr>
          </a:p>
          <a:p>
            <a:r>
              <a:rPr lang="en-US" sz="28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Data includes new variables: </a:t>
            </a:r>
          </a:p>
          <a:p>
            <a:pPr lvl="1"/>
            <a:r>
              <a:rPr lang="en-US" sz="28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Outlet_quote (primary key), ca_made_change_affecting_index, triggered</a:t>
            </a:r>
          </a:p>
          <a:p>
            <a:r>
              <a:rPr lang="en-US" sz="2800" dirty="0">
                <a:latin typeface="HelveticaNeueforSAS Light" panose="020B0403020202020204" pitchFamily="34" charset="0"/>
                <a:ea typeface="HeiT" panose="020B0502000000000001" pitchFamily="34" charset="-120"/>
                <a:cs typeface="Albany AMT" panose="020B0604020202020204" pitchFamily="34" charset="0"/>
              </a:rPr>
              <a:t>Target Variable: “Review”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932101"/>
              </p:ext>
            </p:extLst>
          </p:nvPr>
        </p:nvGraphicFramePr>
        <p:xfrm>
          <a:off x="1065485" y="4282041"/>
          <a:ext cx="5619970" cy="22592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8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49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92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Triggered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CA</a:t>
                      </a:r>
                      <a:r>
                        <a:rPr lang="en-US" baseline="0" dirty="0">
                          <a:latin typeface="HelveticaNeueforSAS" panose="020B0604020202020204" pitchFamily="34" charset="0"/>
                        </a:rPr>
                        <a:t> made change</a:t>
                      </a:r>
                      <a:endParaRPr lang="en-US" dirty="0">
                        <a:latin typeface="HelveticaNeueforSAS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" panose="020B0604020202020204" pitchFamily="34" charset="0"/>
                        </a:rPr>
                        <a:t>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58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58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58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58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" panose="020B0604020202020204" pitchFamily="34" charset="0"/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437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84400"/>
            <a:ext cx="10820400" cy="45720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HelveticaNeueforSAS Light" panose="020B0403020202020204" pitchFamily="34" charset="0"/>
              </a:rPr>
              <a:t>Dealing with missing values</a:t>
            </a:r>
          </a:p>
          <a:p>
            <a:pPr lvl="1"/>
            <a:r>
              <a:rPr lang="en-US" sz="2800" dirty="0">
                <a:latin typeface="HelveticaNeueforSAS Light" panose="020B0403020202020204" pitchFamily="34" charset="0"/>
              </a:rPr>
              <a:t>We can’t just “drop” them </a:t>
            </a:r>
          </a:p>
          <a:p>
            <a:r>
              <a:rPr lang="en-US" sz="2800" dirty="0">
                <a:latin typeface="HelveticaNeueforSAS Light" panose="020B0403020202020204" pitchFamily="34" charset="0"/>
              </a:rPr>
              <a:t>Creating target variable “review”</a:t>
            </a:r>
          </a:p>
          <a:p>
            <a:r>
              <a:rPr lang="en-US" sz="2800" dirty="0">
                <a:latin typeface="HelveticaNeueforSAS Light" panose="020B0403020202020204" pitchFamily="34" charset="0"/>
              </a:rPr>
              <a:t>Selecting predictive features</a:t>
            </a:r>
          </a:p>
          <a:p>
            <a:pPr lvl="1"/>
            <a:r>
              <a:rPr lang="en-US" sz="2800" dirty="0">
                <a:latin typeface="HelveticaNeueforSAS Light" panose="020B0403020202020204" pitchFamily="34" charset="0"/>
              </a:rPr>
              <a:t>Ex: price change, field messages</a:t>
            </a:r>
          </a:p>
          <a:p>
            <a:r>
              <a:rPr lang="en-US" sz="2800" dirty="0">
                <a:latin typeface="HelveticaNeueforSAS Light" panose="020B0403020202020204" pitchFamily="34" charset="0"/>
              </a:rPr>
              <a:t>Dropping features that relate to the target variable</a:t>
            </a:r>
          </a:p>
          <a:p>
            <a:pPr lvl="1"/>
            <a:r>
              <a:rPr lang="en-US" sz="2800" dirty="0">
                <a:latin typeface="HelveticaNeueforSAS Light" panose="020B0403020202020204" pitchFamily="34" charset="0"/>
              </a:rPr>
              <a:t>Ex: CA </a:t>
            </a:r>
            <a:r>
              <a:rPr lang="en-US" sz="2800" dirty="0" err="1">
                <a:latin typeface="HelveticaNeueforSAS Light" panose="020B0403020202020204" pitchFamily="34" charset="0"/>
              </a:rPr>
              <a:t>msg</a:t>
            </a:r>
            <a:endParaRPr lang="en-US" sz="2800" dirty="0">
              <a:latin typeface="HelveticaNeueforSAS Light" panose="020B0403020202020204" pitchFamily="34" charset="0"/>
            </a:endParaRPr>
          </a:p>
          <a:p>
            <a:r>
              <a:rPr lang="en-US" sz="2800" dirty="0">
                <a:latin typeface="HelveticaNeueforSAS Light" panose="020B0403020202020204" pitchFamily="34" charset="0"/>
              </a:rPr>
              <a:t>Creating new features </a:t>
            </a:r>
          </a:p>
        </p:txBody>
      </p:sp>
    </p:spTree>
    <p:extLst>
      <p:ext uri="{BB962C8B-B14F-4D97-AF65-F5344CB8AC3E}">
        <p14:creationId xmlns:p14="http://schemas.microsoft.com/office/powerpoint/2010/main" val="334249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862667"/>
            <a:ext cx="11315700" cy="4605865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to extract the cost of shipping, alteration charges, and items that were sold as separates as different features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using key words in the field messages 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to rank the specs in alphanumeric order 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to find the difference in spec values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Extracted F codes from field messages</a:t>
            </a:r>
            <a:endParaRPr lang="en-US" b="1" dirty="0">
              <a:solidFill>
                <a:srgbClr val="00B050"/>
              </a:solidFill>
              <a:latin typeface="HelveticaNeueforSAS Light" panose="020B0403020202020204" pitchFamily="34" charset="0"/>
            </a:endParaRP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using season</a:t>
            </a:r>
            <a:endParaRPr lang="en-US" b="1" dirty="0">
              <a:solidFill>
                <a:srgbClr val="00B050"/>
              </a:solidFill>
              <a:latin typeface="HelveticaNeueforSAS Light" panose="020B0403020202020204" pitchFamily="34" charset="0"/>
            </a:endParaRP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Found length of field message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hlinkClick r:id="rId2"/>
              </a:rPr>
              <a:t>Oversampling</a:t>
            </a:r>
            <a:r>
              <a:rPr lang="en-US" dirty="0">
                <a:latin typeface="HelveticaNeueforSAS Light" panose="020B0403020202020204" pitchFamily="34" charset="0"/>
              </a:rPr>
              <a:t> minority class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Tried using the age of the quote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</a:rPr>
              <a:t>Standardized price changes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hlinkClick r:id="rId3"/>
              </a:rPr>
              <a:t>One-</a:t>
            </a:r>
            <a:r>
              <a:rPr lang="en-US" dirty="0" err="1">
                <a:latin typeface="HelveticaNeueforSAS Light" panose="020B0403020202020204" pitchFamily="34" charset="0"/>
                <a:hlinkClick r:id="rId3"/>
              </a:rPr>
              <a:t>hotted</a:t>
            </a:r>
            <a:r>
              <a:rPr lang="en-US" dirty="0">
                <a:latin typeface="HelveticaNeueforSAS Light" panose="020B0403020202020204" pitchFamily="34" charset="0"/>
              </a:rPr>
              <a:t> categorical variables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hlinkClick r:id="rId4"/>
              </a:rPr>
              <a:t>TF-IDF</a:t>
            </a:r>
            <a:endParaRPr lang="en-US" dirty="0">
              <a:latin typeface="HelveticaNeueforSAS Light" panose="020B0403020202020204" pitchFamily="34" charset="0"/>
            </a:endParaRPr>
          </a:p>
          <a:p>
            <a:pPr marL="457200" lvl="1" indent="0">
              <a:buNone/>
            </a:pPr>
            <a:endParaRPr lang="en-US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621" y="3302389"/>
            <a:ext cx="5968979" cy="293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87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PREDICTIONS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4200" y="2219961"/>
            <a:ext cx="2692400" cy="52324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HelveticaNeueforSAS Light" panose="020B0403020202020204" pitchFamily="34" charset="0"/>
              </a:rPr>
              <a:t>Hold out method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14612"/>
            <a:ext cx="4726376" cy="37988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776" y="2614612"/>
            <a:ext cx="6331480" cy="379888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5450276" y="2204722"/>
            <a:ext cx="2692400" cy="523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HelveticaNeueforSAS Light" panose="020B0403020202020204" pitchFamily="34" charset="0"/>
              </a:rPr>
              <a:t>Cross Validated</a:t>
            </a:r>
          </a:p>
        </p:txBody>
      </p:sp>
    </p:spTree>
    <p:extLst>
      <p:ext uri="{BB962C8B-B14F-4D97-AF65-F5344CB8AC3E}">
        <p14:creationId xmlns:p14="http://schemas.microsoft.com/office/powerpoint/2010/main" val="3561681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Model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331989"/>
            <a:ext cx="4564117" cy="792212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I used </a:t>
            </a:r>
            <a:r>
              <a:rPr lang="en-US" b="1" i="1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F1-score</a:t>
            </a: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, </a:t>
            </a:r>
            <a:r>
              <a:rPr lang="en-US" b="1" i="1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Recall</a:t>
            </a: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, and </a:t>
            </a:r>
            <a:r>
              <a:rPr lang="en-US" b="1" i="1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Precision</a:t>
            </a: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 as my accuracy metrics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4905"/>
              </p:ext>
            </p:extLst>
          </p:nvPr>
        </p:nvGraphicFramePr>
        <p:xfrm>
          <a:off x="5531068" y="2434726"/>
          <a:ext cx="6108481" cy="41417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84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83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9086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Model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F1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Recall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Prec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2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0.282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0.164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281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00B050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Random Forest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B050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268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SGD</a:t>
                      </a:r>
                      <a:r>
                        <a:rPr lang="en-US" baseline="0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 Classifier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268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Neural Net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268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Naïve</a:t>
                      </a:r>
                      <a:r>
                        <a:rPr lang="en-US" b="0" baseline="0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 Bayes</a:t>
                      </a:r>
                      <a:endParaRPr lang="en-US" b="0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268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7" name="Straight Connector 6"/>
          <p:cNvCxnSpPr>
            <a:cxnSpLocks/>
          </p:cNvCxnSpPr>
          <p:nvPr/>
        </p:nvCxnSpPr>
        <p:spPr>
          <a:xfrm>
            <a:off x="7726286" y="3789249"/>
            <a:ext cx="91440" cy="169333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7791056" y="3699690"/>
            <a:ext cx="203201" cy="270934"/>
          </a:xfrm>
          <a:prstGeom prst="line">
            <a:avLst/>
          </a:prstGeom>
          <a:ln w="5715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19390"/>
            <a:ext cx="4406900" cy="3457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790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Understanding the metrics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F1 score is the </a:t>
                </a:r>
                <a:r>
                  <a:rPr lang="en-US" b="1" i="1" u="sng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harmonic mean</a:t>
                </a:r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 of precision and recall.</a:t>
                </a:r>
              </a:p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Recall is how many relevant instances the model predicts</a:t>
                </a:r>
              </a:p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Precision is how many relevant instances the model predicts </a:t>
                </a:r>
                <a:r>
                  <a:rPr lang="en-US" i="1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correctly</a:t>
                </a:r>
                <a:endParaRPr lang="en-US" i="1" u="sng" dirty="0">
                  <a:latin typeface="HelveticaNeueforSAS Light" panose="020B0403020202020204" pitchFamily="34" charset="0"/>
                  <a:cs typeface="Albany AMT" panose="020B0604020202020204" pitchFamily="34" charset="0"/>
                </a:endParaRPr>
              </a:p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Precision is calculated as: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𝑇𝑅𝑈𝐸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𝑃𝑂𝑆𝐼𝑇𝐼𝑉𝐸𝑆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𝑇𝑅𝑈𝐸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𝑃𝑂𝑆𝐼𝑇𝐼𝑉𝐸𝑆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𝐹𝐴𝐿𝑆𝐸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𝑃𝑂𝑆𝐼𝑇𝐼𝑉𝐸𝑆</m:t>
                        </m:r>
                      </m:den>
                    </m:f>
                  </m:oMath>
                </a14:m>
                <a:endParaRPr lang="en-US" dirty="0">
                  <a:latin typeface="HelveticaNeueforSAS Light" panose="020B0403020202020204" pitchFamily="34" charset="0"/>
                  <a:cs typeface="Albany AMT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HelveticaNeueforSAS Light" panose="020B0403020202020204" pitchFamily="34" charset="0"/>
                  <a:cs typeface="Albany AMT" panose="020B0604020202020204" pitchFamily="34" charset="0"/>
                </a:endParaRPr>
              </a:p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Recall is calculated as: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𝑇𝑅𝑈𝐸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𝑃𝑂𝑆𝐼𝑇𝐼𝑉𝐸𝑆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𝑇𝑅𝑈𝐸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𝑃𝑂𝑆𝐼𝑇𝐼𝑉𝐸𝑆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𝐹𝐴𝐿𝑆𝐸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Albany AMT" panose="020B0604020202020204" pitchFamily="34" charset="0"/>
                          </a:rPr>
                          <m:t>𝑁𝐸𝐺𝐴𝑇𝐼𝑉𝐸𝑆</m:t>
                        </m:r>
                      </m:den>
                    </m:f>
                  </m:oMath>
                </a14:m>
                <a:endParaRPr lang="en-US" dirty="0">
                  <a:latin typeface="HelveticaNeueforSAS Light" panose="020B0403020202020204" pitchFamily="34" charset="0"/>
                  <a:cs typeface="Albany AMT" panose="020B0604020202020204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HelveticaNeueforSAS Light" panose="020B0403020202020204" pitchFamily="34" charset="0"/>
                  <a:cs typeface="Albany AMT" panose="020B0604020202020204" pitchFamily="34" charset="0"/>
                </a:endParaRPr>
              </a:p>
              <a:p>
                <a:r>
                  <a:rPr lang="en-US" dirty="0">
                    <a:latin typeface="HelveticaNeueforSAS Light" panose="020B0403020202020204" pitchFamily="34" charset="0"/>
                    <a:cs typeface="Albany AMT" panose="020B0604020202020204" pitchFamily="34" charset="0"/>
                  </a:rPr>
                  <a:t>Goal: Increase both precision and recall scores by reducing the number of false positives/negatives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76" t="-1970" b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/>
          <p:cNvSpPr/>
          <p:nvPr/>
        </p:nvSpPr>
        <p:spPr>
          <a:xfrm>
            <a:off x="5600700" y="4660900"/>
            <a:ext cx="2120900" cy="431800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823200" y="4397297"/>
            <a:ext cx="2331534" cy="959006"/>
          </a:xfrm>
          <a:prstGeom prst="rect">
            <a:avLst/>
          </a:prstGeom>
        </p:spPr>
        <p:txBody>
          <a:bodyPr vert="horz" wrap="none" lIns="91440" tIns="45720" rIns="91440" bIns="45720" rtlCol="0" anchor="t">
            <a:normAutofit/>
          </a:bodyPr>
          <a:lstStyle/>
          <a:p>
            <a:pPr marL="0" marR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  <a:lumOff val="50000"/>
                  </a:schemeClr>
                </a:solidFill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We want to reduce this number. </a:t>
            </a:r>
          </a:p>
          <a:p>
            <a:pPr marL="0" marR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False Negative means the model </a:t>
            </a:r>
          </a:p>
          <a:p>
            <a:pPr marL="0" marR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predicts no review when it should</a:t>
            </a:r>
          </a:p>
          <a:p>
            <a:pPr marL="0" marR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be reviewed.</a:t>
            </a:r>
            <a:r>
              <a:rPr lang="en-US" sz="1400" noProof="0" dirty="0">
                <a:solidFill>
                  <a:schemeClr val="tx2">
                    <a:lumMod val="50000"/>
                    <a:lumOff val="50000"/>
                  </a:schemeClr>
                </a:solidFill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50000"/>
                  <a:lumOff val="50000"/>
                </a:schemeClr>
              </a:solidFill>
              <a:effectLst/>
              <a:uLnTx/>
              <a:uFillTx/>
              <a:latin typeface="HelveticaNeueforSAS Light" panose="020B040302020202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513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2933" y="2051305"/>
            <a:ext cx="10634133" cy="3570561"/>
          </a:xfrm>
        </p:spPr>
        <p:txBody>
          <a:bodyPr/>
          <a:lstStyle/>
          <a:p>
            <a:pPr algn="ctr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Random ForesT: </a:t>
            </a:r>
            <a:b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</a:br>
            <a:b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</a:b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Explanation, PROS &amp; CONS, WHAT I’ve DONE, NEXT STEPs</a:t>
            </a:r>
            <a:b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</a:br>
            <a:endParaRPr lang="en-US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2600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Random Forest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1135" y="2194560"/>
            <a:ext cx="7857065" cy="423164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Can you guess the weight of this cow? 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One person guesses from the little knowledge they have about a cow 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Put a lot of them together and you get closer to the true results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This is how random forest works.</a:t>
            </a:r>
          </a:p>
          <a:p>
            <a:endParaRPr lang="en-US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Uses multiple decision trees that together average toward the true value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Selects random features (columns) in your dataset and creates a decision tree out of it </a:t>
            </a:r>
            <a:r>
              <a:rPr lang="en-US" i="1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(each person has some idea of the cow)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The decision tree outputs a result and gets counted </a:t>
            </a:r>
            <a:r>
              <a:rPr lang="en-US" i="1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(the person’s guess)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We take the majority of this list to classify the instance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0" y="2319867"/>
            <a:ext cx="3449119" cy="20948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03732" y="4673604"/>
            <a:ext cx="311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NeueforSAS Light" panose="020B0403020202020204" pitchFamily="34" charset="0"/>
              </a:rPr>
              <a:t>‘WISDOM OF THE CROWD’</a:t>
            </a:r>
          </a:p>
        </p:txBody>
      </p:sp>
    </p:spTree>
    <p:extLst>
      <p:ext uri="{BB962C8B-B14F-4D97-AF65-F5344CB8AC3E}">
        <p14:creationId xmlns:p14="http://schemas.microsoft.com/office/powerpoint/2010/main" val="197276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550" y="1535112"/>
            <a:ext cx="6877050" cy="488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75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Pros and Cons to RF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0"/>
            <a:ext cx="5613400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latin typeface="Albany AMT" panose="020B0604020202020204" pitchFamily="34" charset="0"/>
                <a:cs typeface="Albany AMT" panose="020B0604020202020204" pitchFamily="34" charset="0"/>
              </a:rPr>
              <a:t>CONS:</a:t>
            </a: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Bias to high cardinality features (features that have very few instances)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Example: prices (38.04, 46.76, 100.10)</a:t>
            </a: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Unfriendly toward categorical features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Models only take numerical values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In order to deal with categorical features, we can either rank them or “one-hot” them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RF uses formula called “</a:t>
            </a:r>
            <a:r>
              <a:rPr lang="en-US" dirty="0" err="1">
                <a:latin typeface="HelveticaNeueforSAS Light" panose="020B0403020202020204" pitchFamily="34" charset="0"/>
                <a:cs typeface="Albany AMT" panose="020B0604020202020204" pitchFamily="34" charset="0"/>
              </a:rPr>
              <a:t>gini</a:t>
            </a:r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” to determine how to split. Gini favors many classes</a:t>
            </a:r>
          </a:p>
          <a:p>
            <a:pPr lvl="1"/>
            <a:endParaRPr lang="en-US" dirty="0">
              <a:latin typeface="HelveticaNeueforSAS Light" panose="020B0403020202020204" pitchFamily="34" charset="0"/>
              <a:cs typeface="Albany AMT" panose="020B0604020202020204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299200" y="2194559"/>
            <a:ext cx="5613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latin typeface="Albany AMT" panose="020B0604020202020204" pitchFamily="34" charset="0"/>
                <a:cs typeface="Albany AMT" panose="020B0604020202020204" pitchFamily="34" charset="0"/>
              </a:rPr>
              <a:t>PROS:</a:t>
            </a: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Very strong predictor compared to other models</a:t>
            </a: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Fast runtime (only takes a few seconds compared to logistic regression)</a:t>
            </a:r>
          </a:p>
          <a:p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Low variance, relatively low bias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Less likely to over-fit</a:t>
            </a:r>
          </a:p>
          <a:p>
            <a:pPr lvl="1"/>
            <a:r>
              <a:rPr lang="en-US" dirty="0">
                <a:latin typeface="HelveticaNeueforSAS Light" panose="020B0403020202020204" pitchFamily="34" charset="0"/>
                <a:cs typeface="Albany AMT" panose="020B0604020202020204" pitchFamily="34" charset="0"/>
              </a:rPr>
              <a:t>Easier to generalize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450" y="5728146"/>
            <a:ext cx="27051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PERFORMANCE ON OTHER SECTIONS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265931"/>
              </p:ext>
            </p:extLst>
          </p:nvPr>
        </p:nvGraphicFramePr>
        <p:xfrm>
          <a:off x="877331" y="2273646"/>
          <a:ext cx="6326658" cy="4303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3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6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3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569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F1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Recall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Prec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Apparel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30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Housing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Food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Education &amp; Communication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Transportation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Medical</a:t>
                      </a:r>
                      <a:endParaRPr lang="en-US" b="1" i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Recreation</a:t>
                      </a:r>
                      <a:endParaRPr lang="en-US" b="1" dirty="0"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3187"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Goods</a:t>
                      </a:r>
                      <a:r>
                        <a:rPr lang="en-US" sz="1800" b="0" baseline="0" dirty="0">
                          <a:solidFill>
                            <a:schemeClr val="bg1"/>
                          </a:solidFill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 and Services</a:t>
                      </a:r>
                      <a:endParaRPr lang="en-US" sz="1800" b="0" dirty="0">
                        <a:solidFill>
                          <a:schemeClr val="bg1"/>
                        </a:solidFill>
                        <a:latin typeface="HelveticaNeueforSAS Light" panose="020B0403020202020204" pitchFamily="34" charset="0"/>
                        <a:cs typeface="Albany AMT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HelveticaNeueforSAS Light" panose="020B0403020202020204" pitchFamily="34" charset="0"/>
                          <a:cs typeface="Albany AMT" panose="020B0604020202020204" pitchFamily="34" charset="0"/>
                        </a:rPr>
                        <a:t>0.81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32700" y="2994339"/>
            <a:ext cx="3987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HelveticaNeueforSAS Light" panose="020B0403020202020204" pitchFamily="34" charset="0"/>
              </a:rPr>
              <a:t>F1 </a:t>
            </a:r>
            <a:r>
              <a:rPr lang="en-US" sz="3600" dirty="0" err="1">
                <a:latin typeface="HelveticaNeueforSAS Light" panose="020B0403020202020204" pitchFamily="34" charset="0"/>
              </a:rPr>
              <a:t>Avg</a:t>
            </a:r>
            <a:r>
              <a:rPr lang="en-US" sz="3600" dirty="0">
                <a:latin typeface="HelveticaNeueforSAS Light" panose="020B0403020202020204" pitchFamily="34" charset="0"/>
              </a:rPr>
              <a:t>: 0.85</a:t>
            </a:r>
          </a:p>
          <a:p>
            <a:endParaRPr lang="en-US" sz="3600" dirty="0">
              <a:latin typeface="HelveticaNeueforSAS Light" panose="020B0403020202020204" pitchFamily="34" charset="0"/>
            </a:endParaRPr>
          </a:p>
          <a:p>
            <a:r>
              <a:rPr lang="en-US" sz="3600" dirty="0">
                <a:latin typeface="HelveticaNeueforSAS Light" panose="020B0403020202020204" pitchFamily="34" charset="0"/>
              </a:rPr>
              <a:t>Recall </a:t>
            </a:r>
            <a:r>
              <a:rPr lang="en-US" sz="3600" dirty="0" err="1">
                <a:latin typeface="HelveticaNeueforSAS Light" panose="020B0403020202020204" pitchFamily="34" charset="0"/>
              </a:rPr>
              <a:t>Avg</a:t>
            </a:r>
            <a:r>
              <a:rPr lang="en-US" sz="3600" dirty="0">
                <a:latin typeface="HelveticaNeueforSAS Light" panose="020B0403020202020204" pitchFamily="34" charset="0"/>
              </a:rPr>
              <a:t>: 0.97</a:t>
            </a:r>
          </a:p>
          <a:p>
            <a:endParaRPr lang="en-US" sz="3600" dirty="0">
              <a:latin typeface="HelveticaNeueforSAS Light" panose="020B0403020202020204" pitchFamily="34" charset="0"/>
            </a:endParaRPr>
          </a:p>
          <a:p>
            <a:r>
              <a:rPr lang="en-US" sz="3600" dirty="0" err="1">
                <a:latin typeface="HelveticaNeueforSAS Light" panose="020B0403020202020204" pitchFamily="34" charset="0"/>
              </a:rPr>
              <a:t>Prec</a:t>
            </a:r>
            <a:r>
              <a:rPr lang="en-US" sz="3600" dirty="0">
                <a:latin typeface="HelveticaNeueforSAS Light" panose="020B0403020202020204" pitchFamily="34" charset="0"/>
              </a:rPr>
              <a:t> </a:t>
            </a:r>
            <a:r>
              <a:rPr lang="en-US" sz="3600" dirty="0" err="1">
                <a:latin typeface="HelveticaNeueforSAS Light" panose="020B0403020202020204" pitchFamily="34" charset="0"/>
              </a:rPr>
              <a:t>Avg</a:t>
            </a:r>
            <a:r>
              <a:rPr lang="en-US" sz="3600" dirty="0">
                <a:latin typeface="HelveticaNeueforSAS Light" panose="020B0403020202020204" pitchFamily="34" charset="0"/>
              </a:rPr>
              <a:t>: 0.77</a:t>
            </a:r>
          </a:p>
        </p:txBody>
      </p:sp>
    </p:spTree>
    <p:extLst>
      <p:ext uri="{BB962C8B-B14F-4D97-AF65-F5344CB8AC3E}">
        <p14:creationId xmlns:p14="http://schemas.microsoft.com/office/powerpoint/2010/main" val="746087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APPAREL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502400" y="2057401"/>
            <a:ext cx="3594100" cy="12930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0.35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858852"/>
            <a:ext cx="5676900" cy="47197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5648" y="5029200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60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HOUSING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99200" y="2109788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0.3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34" y="1745907"/>
            <a:ext cx="5689731" cy="490904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614" y="5194455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57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FOOD MODEL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48" y="1804523"/>
            <a:ext cx="5679104" cy="46597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3748" y="5156200"/>
            <a:ext cx="2504104" cy="1308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502400" y="2057401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0.3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801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EDUC&amp;COMM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00" y="1851660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050" y="1851660"/>
            <a:ext cx="5634450" cy="47650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2850" y="5207000"/>
            <a:ext cx="2504104" cy="1308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3273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Transportation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99200" y="2109788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0.2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22" y="2109788"/>
            <a:ext cx="5274777" cy="44377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5648" y="5029200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685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MEDICAL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99200" y="2109788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0.28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78" y="1716166"/>
            <a:ext cx="5660718" cy="50627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614" y="5194455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4656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RECREATION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299200" y="2109788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0.2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83" y="1669571"/>
            <a:ext cx="5711328" cy="50370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0395" y="5146252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9587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573873"/>
            <a:ext cx="8610600" cy="1293028"/>
          </a:xfrm>
        </p:spPr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GOODS &amp; SERVICES MODEL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420386" y="1745907"/>
            <a:ext cx="3594100" cy="6476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HelveticaNeueforSAS Light" panose="020B0403020202020204" pitchFamily="34" charset="0"/>
              </a:rPr>
              <a:t>Threshold = 0.3</a:t>
            </a: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  <a:p>
            <a:pPr marL="0" indent="0">
              <a:buNone/>
            </a:pPr>
            <a:endParaRPr lang="en-US" sz="3600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92" y="1754266"/>
            <a:ext cx="5728419" cy="490068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3614" y="5194455"/>
            <a:ext cx="2725252" cy="14605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035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4712" y="1963420"/>
            <a:ext cx="2870200" cy="71374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HelveticaNeueforSAS Light" panose="020B0403020202020204" pitchFamily="34" charset="0"/>
              </a:rPr>
              <a:t>Some items can have multiple predictions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77160"/>
            <a:ext cx="3248025" cy="3895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106" y="2653982"/>
            <a:ext cx="6216650" cy="1938698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754562" y="2091691"/>
            <a:ext cx="6027738" cy="457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latin typeface="HelveticaNeueforSAS Light" panose="020B0403020202020204" pitchFamily="34" charset="0"/>
              </a:rPr>
              <a:t>Same item can have different predictions</a:t>
            </a:r>
          </a:p>
        </p:txBody>
      </p:sp>
    </p:spTree>
    <p:extLst>
      <p:ext uri="{BB962C8B-B14F-4D97-AF65-F5344CB8AC3E}">
        <p14:creationId xmlns:p14="http://schemas.microsoft.com/office/powerpoint/2010/main" val="19302315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Solution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94561"/>
            <a:ext cx="8420100" cy="891540"/>
          </a:xfrm>
        </p:spPr>
        <p:txBody>
          <a:bodyPr/>
          <a:lstStyle/>
          <a:p>
            <a:r>
              <a:rPr lang="en-US" dirty="0">
                <a:latin typeface="HelveticaNeueforSAS Light" panose="020B0403020202020204" pitchFamily="34" charset="0"/>
              </a:rPr>
              <a:t>Reshape data so that one row = one item</a:t>
            </a:r>
          </a:p>
          <a:p>
            <a:r>
              <a:rPr lang="en-US" dirty="0">
                <a:latin typeface="HelveticaNeueforSAS Light" panose="020B0403020202020204" pitchFamily="34" charset="0"/>
              </a:rPr>
              <a:t>Results:</a:t>
            </a:r>
          </a:p>
          <a:p>
            <a:endParaRPr lang="en-US" dirty="0">
              <a:latin typeface="HelveticaNeueforSAS Light" panose="020B0403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48" y="3255984"/>
            <a:ext cx="4306335" cy="21923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453" y="3255984"/>
            <a:ext cx="4176740" cy="219231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4ABBA9-9473-473D-9AAF-0B81E7B7B4F7}"/>
              </a:ext>
            </a:extLst>
          </p:cNvPr>
          <p:cNvSpPr txBox="1"/>
          <p:nvPr/>
        </p:nvSpPr>
        <p:spPr>
          <a:xfrm>
            <a:off x="712083" y="5618183"/>
            <a:ext cx="4876800" cy="107864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  <a:sym typeface="Wingdings" panose="05000000000000000000" pitchFamily="2" charset="2"/>
              </a:rPr>
              <a:t> F1 Score is the same, but we want a high recall (at least 0.95)</a:t>
            </a:r>
            <a:r>
              <a:rPr lang="en-US" sz="36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lveticaNeueforSAS Light" panose="020B040302020202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51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Solution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F063B-894C-4EBB-9BA8-DC898BDB6D66}"/>
              </a:ext>
            </a:extLst>
          </p:cNvPr>
          <p:cNvSpPr txBox="1"/>
          <p:nvPr/>
        </p:nvSpPr>
        <p:spPr>
          <a:xfrm>
            <a:off x="711200" y="1700404"/>
            <a:ext cx="5591175" cy="713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0000" lnSpcReduction="20000"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Step 1- Adjust probability thresholds</a:t>
            </a:r>
          </a:p>
        </p:txBody>
      </p:sp>
      <p:pic>
        <p:nvPicPr>
          <p:cNvPr id="10" name="Content Placeholder 3">
            <a:extLst>
              <a:ext uri="{FF2B5EF4-FFF2-40B4-BE49-F238E27FC236}">
                <a16:creationId xmlns:a16="http://schemas.microsoft.com/office/drawing/2014/main" id="{2F5E4B7A-00BC-4B10-8272-8389E8891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2800" y="2414398"/>
            <a:ext cx="5836422" cy="2134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77AD3D4-4061-4F25-867B-FA42797FFB3B}"/>
              </a:ext>
            </a:extLst>
          </p:cNvPr>
          <p:cNvSpPr txBox="1"/>
          <p:nvPr/>
        </p:nvSpPr>
        <p:spPr>
          <a:xfrm>
            <a:off x="7033397" y="2284770"/>
            <a:ext cx="2371725" cy="2393649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925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Ex: if threshold = 0.2, model predicts the class probability &gt; 0.2 to be “review”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lveticaNeueforSAS Light" panose="020B040302020202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249FE6-7913-440D-8FD6-632D1C1B01E5}"/>
              </a:ext>
            </a:extLst>
          </p:cNvPr>
          <p:cNvSpPr txBox="1"/>
          <p:nvPr/>
        </p:nvSpPr>
        <p:spPr>
          <a:xfrm>
            <a:off x="812800" y="4678419"/>
            <a:ext cx="8210550" cy="71399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Step 2 – Adjust Class Majority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5228275"/>
            <a:ext cx="4762500" cy="118148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Default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Threshold: 0.5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lveticaNeueforSAS Light" panose="020B0403020202020204" pitchFamily="34" charset="0"/>
              <a:ea typeface="+mj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783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Default threshold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4300" y="6448406"/>
            <a:ext cx="3187700" cy="381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NeueforSAS Light" panose="020B0403020202020204" pitchFamily="34" charset="0"/>
              </a:rPr>
              <a:t>Adjusted Class Majority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13089"/>
            <a:ext cx="4153272" cy="3248231"/>
          </a:xfrm>
          <a:prstGeom prst="rect">
            <a:avLst/>
          </a:prstGeom>
          <a:ln>
            <a:solidFill>
              <a:srgbClr val="FF0000"/>
            </a:solidFill>
          </a:ln>
        </p:spPr>
      </p:pic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3417775"/>
              </p:ext>
            </p:extLst>
          </p:nvPr>
        </p:nvGraphicFramePr>
        <p:xfrm>
          <a:off x="7242061" y="3170249"/>
          <a:ext cx="2368626" cy="1856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7460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196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423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1823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 rot="16200000">
            <a:off x="6009537" y="3868430"/>
            <a:ext cx="1215528" cy="2974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771" y="2889380"/>
            <a:ext cx="2153798" cy="2808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No Review	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       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6013493" y="3900146"/>
            <a:ext cx="2090090" cy="30959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Review 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      No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5478" y="3781746"/>
            <a:ext cx="524106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(FP)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47299" y="4728080"/>
            <a:ext cx="613315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(FN)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74873" y="5058865"/>
            <a:ext cx="1971482" cy="55756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FP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Fals</a:t>
            </a:r>
            <a:r>
              <a:rPr lang="en-US" sz="16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e Positive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FN = False Negative</a:t>
            </a:r>
          </a:p>
        </p:txBody>
      </p:sp>
      <p:pic>
        <p:nvPicPr>
          <p:cNvPr id="52" name="Picture 5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099991"/>
            <a:ext cx="4211227" cy="1591567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885675" y="4017158"/>
            <a:ext cx="1977528" cy="106349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Curved Connector 53"/>
          <p:cNvCxnSpPr/>
          <p:nvPr/>
        </p:nvCxnSpPr>
        <p:spPr>
          <a:xfrm flipV="1">
            <a:off x="2848910" y="4098450"/>
            <a:ext cx="3377984" cy="509128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7286128" y="2509716"/>
            <a:ext cx="2247441" cy="2974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Predicted</a:t>
            </a:r>
          </a:p>
        </p:txBody>
      </p:sp>
    </p:spTree>
    <p:extLst>
      <p:ext uri="{BB962C8B-B14F-4D97-AF65-F5344CB8AC3E}">
        <p14:creationId xmlns:p14="http://schemas.microsoft.com/office/powerpoint/2010/main" val="479000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1. Adjust Probability Threshold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163316"/>
              </p:ext>
            </p:extLst>
          </p:nvPr>
        </p:nvGraphicFramePr>
        <p:xfrm>
          <a:off x="7242061" y="3170249"/>
          <a:ext cx="2368626" cy="1856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7168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488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243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2014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 rot="16200000">
            <a:off x="5979235" y="4032082"/>
            <a:ext cx="1215528" cy="2974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771" y="2889380"/>
            <a:ext cx="2153798" cy="2808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HeiT" panose="020B0502000000000001" pitchFamily="34" charset="-120"/>
                <a:cs typeface="Calibri" panose="020F0502020204030204" pitchFamily="34" charset="0"/>
              </a:rPr>
              <a:t>No Review	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HeiT" panose="020B0502000000000001" pitchFamily="34" charset="-120"/>
                <a:cs typeface="Calibri" panose="020F0502020204030204" pitchFamily="34" charset="0"/>
              </a:rPr>
              <a:t>        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HeiT" panose="020B0502000000000001" pitchFamily="34" charset="-120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6055560" y="3975119"/>
            <a:ext cx="2023178" cy="29237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Review 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      No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5478" y="3781746"/>
            <a:ext cx="524106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(FP)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47299" y="4728080"/>
            <a:ext cx="613315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(FN)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74873" y="5058865"/>
            <a:ext cx="1971482" cy="55756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FP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Fals</a:t>
            </a:r>
            <a:r>
              <a:rPr lang="en-US" sz="16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e Positive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FN = False Negative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60" y="1608806"/>
            <a:ext cx="4014837" cy="345005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60" y="5165110"/>
            <a:ext cx="4838700" cy="147637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852397" y="5134019"/>
            <a:ext cx="844139" cy="15385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4454535" y="4792268"/>
            <a:ext cx="426587" cy="3106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3959967" y="4788574"/>
            <a:ext cx="489949" cy="34432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86128" y="2509716"/>
            <a:ext cx="2247441" cy="2974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Predicted</a:t>
            </a:r>
          </a:p>
        </p:txBody>
      </p:sp>
    </p:spTree>
    <p:extLst>
      <p:ext uri="{BB962C8B-B14F-4D97-AF65-F5344CB8AC3E}">
        <p14:creationId xmlns:p14="http://schemas.microsoft.com/office/powerpoint/2010/main" val="3994754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1. Adjust CLASS MAJORITY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306" y="2263274"/>
            <a:ext cx="4261968" cy="3029413"/>
          </a:xfrm>
          <a:prstGeom prst="rect">
            <a:avLst/>
          </a:prstGeom>
        </p:spPr>
      </p:pic>
      <p:sp>
        <p:nvSpPr>
          <p:cNvPr id="22" name="Right Brace 21"/>
          <p:cNvSpPr/>
          <p:nvPr/>
        </p:nvSpPr>
        <p:spPr>
          <a:xfrm>
            <a:off x="5314874" y="2590188"/>
            <a:ext cx="842178" cy="243472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6157052" y="3240183"/>
            <a:ext cx="2280492" cy="113473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# of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1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:  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8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noProof="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Total:    12</a:t>
            </a: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8/12</a:t>
            </a:r>
            <a:r>
              <a:rPr kumimoji="0" lang="en-US" sz="3600" b="0" i="0" u="none" strike="noStrike" kern="1200" cap="none" spc="0" normalizeH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= 0.6667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HelveticaNeueforSAS Light" panose="020B0403020202020204" pitchFamily="34" charset="0"/>
              <a:ea typeface="+mj-ea"/>
              <a:cs typeface="Calibri" panose="020F0502020204030204" pitchFamily="3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306" y="5292687"/>
            <a:ext cx="7105650" cy="143827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84302" y="5868605"/>
            <a:ext cx="2282098" cy="862357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Final prediction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= 1</a:t>
            </a:r>
          </a:p>
        </p:txBody>
      </p:sp>
    </p:spTree>
    <p:extLst>
      <p:ext uri="{BB962C8B-B14F-4D97-AF65-F5344CB8AC3E}">
        <p14:creationId xmlns:p14="http://schemas.microsoft.com/office/powerpoint/2010/main" val="33079208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4300" y="6448406"/>
            <a:ext cx="3187700" cy="381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NeueforSAS Light" panose="020B0403020202020204" pitchFamily="34" charset="0"/>
              </a:rPr>
              <a:t>Adjusted Class Majority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433217"/>
              </p:ext>
            </p:extLst>
          </p:nvPr>
        </p:nvGraphicFramePr>
        <p:xfrm>
          <a:off x="7242061" y="3170249"/>
          <a:ext cx="2368626" cy="18564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2519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128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20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HelveticaNeueforSAS Light" panose="020B0403020202020204" pitchFamily="34" charset="0"/>
                          <a:cs typeface="Calibri" panose="020F0502020204030204" pitchFamily="34" charset="0"/>
                        </a:rPr>
                        <a:t>673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 rot="16200000">
            <a:off x="6046786" y="3747932"/>
            <a:ext cx="1292382" cy="30495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Actual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79771" y="2889380"/>
            <a:ext cx="2153798" cy="2808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No Review	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        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8" name="TextBox 47"/>
          <p:cNvSpPr txBox="1"/>
          <p:nvPr/>
        </p:nvSpPr>
        <p:spPr>
          <a:xfrm rot="16200000">
            <a:off x="6135806" y="3906376"/>
            <a:ext cx="1874188" cy="2808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0000" lnSpcReduction="2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Review </a:t>
            </a:r>
            <a:r>
              <a:rPr kumimoji="0" lang="en-US" sz="36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  No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5478" y="3781746"/>
            <a:ext cx="524106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(FP)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547299" y="4728080"/>
            <a:ext cx="613315" cy="29857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(FN)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+mj-ea"/>
              <a:cs typeface="Calibri" panose="020F050202020403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74873" y="5058865"/>
            <a:ext cx="1971482" cy="55756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lnSpcReduction="10000"/>
          </a:bodyPr>
          <a:lstStyle/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FP =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Fals</a:t>
            </a:r>
            <a:r>
              <a:rPr lang="en-US" sz="1600" dirty="0"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e Positive</a:t>
            </a:r>
          </a:p>
          <a:p>
            <a:pPr marL="0" marR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FN = False Negative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181" y="1844164"/>
            <a:ext cx="4682018" cy="418680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86128" y="2509716"/>
            <a:ext cx="2247441" cy="297456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HelveticaNeueforSAS Light" panose="020B0403020202020204" pitchFamily="34" charset="0"/>
                <a:ea typeface="+mj-ea"/>
                <a:cs typeface="Calibri" panose="020F0502020204030204" pitchFamily="34" charset="0"/>
              </a:rPr>
              <a:t>Predicted</a:t>
            </a:r>
          </a:p>
        </p:txBody>
      </p:sp>
    </p:spTree>
    <p:extLst>
      <p:ext uri="{BB962C8B-B14F-4D97-AF65-F5344CB8AC3E}">
        <p14:creationId xmlns:p14="http://schemas.microsoft.com/office/powerpoint/2010/main" val="3698711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EC3D-C4F3-4F3D-8F8B-37D4970E4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/>
              </a:rPr>
              <a:t>Overall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BF053-72E7-4CF7-B466-370B2B91F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130040"/>
          </a:xfrm>
        </p:spPr>
        <p:txBody>
          <a:bodyPr>
            <a:normAutofit/>
          </a:bodyPr>
          <a:lstStyle/>
          <a:p>
            <a:r>
              <a:rPr lang="en-US" dirty="0">
                <a:latin typeface="HelveticaNeueforSAS Light" panose="020B0403020202020204"/>
              </a:rPr>
              <a:t>Total Avg Percentage </a:t>
            </a:r>
            <a:r>
              <a:rPr lang="en-US">
                <a:latin typeface="HelveticaNeueforSAS Light" panose="020B0403020202020204"/>
              </a:rPr>
              <a:t>of Reviews </a:t>
            </a:r>
            <a:r>
              <a:rPr lang="en-US" dirty="0">
                <a:latin typeface="HelveticaNeueforSAS Light" panose="020B0403020202020204"/>
              </a:rPr>
              <a:t>Decreased: 85%</a:t>
            </a:r>
          </a:p>
          <a:p>
            <a:r>
              <a:rPr lang="en-US" dirty="0">
                <a:latin typeface="HelveticaNeueforSAS Light" panose="020B0403020202020204"/>
              </a:rPr>
              <a:t>Percentage decreased from each category: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Apparel:		 90%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Housing: 	 87%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Food: 		 94%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Educ/Comm:	 73%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Transportation:	 86%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Medical: 		 78%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Recreation:	 83%</a:t>
            </a:r>
          </a:p>
          <a:p>
            <a:pPr lvl="1"/>
            <a:r>
              <a:rPr lang="en-US" sz="2200" dirty="0">
                <a:latin typeface="HelveticaNeueforSAS Light" panose="020B0403020202020204"/>
              </a:rPr>
              <a:t>Goods/Services:	 88%	</a:t>
            </a:r>
          </a:p>
        </p:txBody>
      </p:sp>
    </p:spTree>
    <p:extLst>
      <p:ext uri="{BB962C8B-B14F-4D97-AF65-F5344CB8AC3E}">
        <p14:creationId xmlns:p14="http://schemas.microsoft.com/office/powerpoint/2010/main" val="18547345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HelveticaNeueforSAS Light" panose="020B0403020202020204" pitchFamily="34" charset="0"/>
              </a:rPr>
              <a:t>Models need to be retrained on a yearly, bi-annual, or even seasonal basis </a:t>
            </a:r>
          </a:p>
          <a:p>
            <a:r>
              <a:rPr lang="en-US" sz="2800" dirty="0">
                <a:latin typeface="HelveticaNeueforSAS Light" panose="020B0403020202020204" pitchFamily="34" charset="0"/>
              </a:rPr>
              <a:t>Probability thresholds can be adjusted based on how much you of each error you want </a:t>
            </a:r>
          </a:p>
          <a:p>
            <a:r>
              <a:rPr lang="en-US" sz="2800" dirty="0">
                <a:latin typeface="HelveticaNeueforSAS Light" panose="020B0403020202020204" pitchFamily="34" charset="0"/>
              </a:rPr>
              <a:t>Class majority threshold can be also be adjusted. </a:t>
            </a:r>
          </a:p>
        </p:txBody>
      </p:sp>
    </p:spTree>
    <p:extLst>
      <p:ext uri="{BB962C8B-B14F-4D97-AF65-F5344CB8AC3E}">
        <p14:creationId xmlns:p14="http://schemas.microsoft.com/office/powerpoint/2010/main" val="3360310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bany AMT" panose="020B0604020202020204" pitchFamily="34" charset="0"/>
                <a:cs typeface="Albany AMT" panose="020B0604020202020204" pitchFamily="34" charset="0"/>
              </a:rPr>
              <a:t>Resources for Understanding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HelveticaNeueforSAS Light" panose="020B0403020202020204" pitchFamily="34" charset="0"/>
              </a:rPr>
              <a:t>What is Random Forest: </a:t>
            </a:r>
            <a:r>
              <a:rPr lang="en-US" sz="2400" dirty="0">
                <a:latin typeface="HelveticaNeueforSAS Light" panose="020B0403020202020204" pitchFamily="34" charset="0"/>
                <a:hlinkClick r:id="rId2"/>
              </a:rPr>
              <a:t>https://towardsdatascience.com/understanding-random-forest-58381e0602d2</a:t>
            </a:r>
            <a:endParaRPr lang="en-US" sz="2400" dirty="0">
              <a:latin typeface="HelveticaNeueforSAS Light" panose="020B0403020202020204" pitchFamily="34" charset="0"/>
            </a:endParaRPr>
          </a:p>
          <a:p>
            <a:endParaRPr lang="en-US" dirty="0">
              <a:latin typeface="HelveticaNeueforSAS Light" panose="020B0403020202020204" pitchFamily="34" charset="0"/>
            </a:endParaRPr>
          </a:p>
          <a:p>
            <a:r>
              <a:rPr lang="en-US" dirty="0">
                <a:latin typeface="HelveticaNeueforSAS Light" panose="020B0403020202020204" pitchFamily="34" charset="0"/>
              </a:rPr>
              <a:t>Understanding Parameters: </a:t>
            </a:r>
            <a:r>
              <a:rPr lang="en-US" dirty="0">
                <a:latin typeface="HelveticaNeueforSAS Light" panose="020B0403020202020204" pitchFamily="34" charset="0"/>
                <a:hlinkClick r:id="rId3"/>
              </a:rPr>
              <a:t>https://medium.com/@taplapinger/tuning-a-random-forest-classifier-1b252d1dde92</a:t>
            </a:r>
            <a:endParaRPr lang="en-US" dirty="0">
              <a:latin typeface="HelveticaNeueforSAS Light" panose="020B0403020202020204" pitchFamily="34" charset="0"/>
            </a:endParaRPr>
          </a:p>
          <a:p>
            <a:endParaRPr lang="en-US" dirty="0">
              <a:latin typeface="HelveticaNeueforSAS Light" panose="020B0403020202020204" pitchFamily="34" charset="0"/>
            </a:endParaRPr>
          </a:p>
          <a:p>
            <a:r>
              <a:rPr lang="en-US" dirty="0">
                <a:latin typeface="HelveticaNeueforSAS Light" panose="020B0403020202020204" pitchFamily="34" charset="0"/>
              </a:rPr>
              <a:t>What is the Gini Index: </a:t>
            </a:r>
            <a:r>
              <a:rPr lang="en-US" dirty="0">
                <a:latin typeface="HelveticaNeueforSAS Light" panose="020B0403020202020204" pitchFamily="34" charset="0"/>
                <a:hlinkClick r:id="rId4"/>
              </a:rPr>
              <a:t>http://www.learnbymarketing.com/481/decision-tree-flavors-gini-info-gain/</a:t>
            </a:r>
            <a:endParaRPr lang="en-US" dirty="0">
              <a:latin typeface="HelveticaNeueforSAS Light" panose="020B0403020202020204" pitchFamily="34" charset="0"/>
            </a:endParaRPr>
          </a:p>
          <a:p>
            <a:pPr marL="0" indent="0">
              <a:buNone/>
            </a:pPr>
            <a:endParaRPr lang="en-US" dirty="0">
              <a:latin typeface="HelveticaNeueforSA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2581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3124200"/>
            <a:ext cx="5181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HelveticaNeueforSAS Light" panose="020B0403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67010914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32047</TotalTime>
  <Words>1136</Words>
  <Application>Microsoft Office PowerPoint</Application>
  <PresentationFormat>Widescreen</PresentationFormat>
  <Paragraphs>296</Paragraphs>
  <Slides>34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Albany AMT</vt:lpstr>
      <vt:lpstr>Arial</vt:lpstr>
      <vt:lpstr>Calibri</vt:lpstr>
      <vt:lpstr>Cambria Math</vt:lpstr>
      <vt:lpstr>Century Gothic</vt:lpstr>
      <vt:lpstr>HelveticaNeueforSAS</vt:lpstr>
      <vt:lpstr>HelveticaNeueforSAS Light</vt:lpstr>
      <vt:lpstr>Vapor Trail</vt:lpstr>
      <vt:lpstr>Automating SPEC REVIEWS FOR THE CPI</vt:lpstr>
      <vt:lpstr>OVERVIEW</vt:lpstr>
      <vt:lpstr>INFRASTUCTURE</vt:lpstr>
      <vt:lpstr>Data science Approach</vt:lpstr>
      <vt:lpstr>NOTES ABOUT THE DATA</vt:lpstr>
      <vt:lpstr>DATA PREPROCESSING</vt:lpstr>
      <vt:lpstr>FEATURE ENGINEERING</vt:lpstr>
      <vt:lpstr>PREDICTIONS</vt:lpstr>
      <vt:lpstr>Model progress</vt:lpstr>
      <vt:lpstr>Understanding the metrics</vt:lpstr>
      <vt:lpstr>Random ForesT:   Explanation, PROS &amp; CONS, WHAT I’ve DONE, NEXT STEPs </vt:lpstr>
      <vt:lpstr>Random Forest Model</vt:lpstr>
      <vt:lpstr>PowerPoint Presentation</vt:lpstr>
      <vt:lpstr>Pros and Cons to RF</vt:lpstr>
      <vt:lpstr>PERFORMANCE ON OTHER SECTIONS</vt:lpstr>
      <vt:lpstr>APPAREL MODEL</vt:lpstr>
      <vt:lpstr>HOUSING MODEL</vt:lpstr>
      <vt:lpstr>FOOD MODEL</vt:lpstr>
      <vt:lpstr>EDUC&amp;COMM MODEL</vt:lpstr>
      <vt:lpstr>Transportation MODEL</vt:lpstr>
      <vt:lpstr>MEDICAL MODEL</vt:lpstr>
      <vt:lpstr>RECREATION MODEL</vt:lpstr>
      <vt:lpstr>GOODS &amp; SERVICES MODEL</vt:lpstr>
      <vt:lpstr>CHALLENGES</vt:lpstr>
      <vt:lpstr>Solution 1</vt:lpstr>
      <vt:lpstr>Solution 2</vt:lpstr>
      <vt:lpstr>Default threshold</vt:lpstr>
      <vt:lpstr>1. Adjust Probability Threshold</vt:lpstr>
      <vt:lpstr>1. Adjust CLASS MAJORITY</vt:lpstr>
      <vt:lpstr>FINAL</vt:lpstr>
      <vt:lpstr>Overall impact</vt:lpstr>
      <vt:lpstr>CONCLUSIONS</vt:lpstr>
      <vt:lpstr>Resources for Understanding Random Forest</vt:lpstr>
      <vt:lpstr>PowerPoint Presentation</vt:lpstr>
    </vt:vector>
  </TitlesOfParts>
  <Company>Bureau of Labor Statistics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Automating CPI spec review</dc:title>
  <dc:creator>Cheng, Avena - BLS CTR</dc:creator>
  <cp:lastModifiedBy> </cp:lastModifiedBy>
  <cp:revision>109</cp:revision>
  <dcterms:created xsi:type="dcterms:W3CDTF">2019-07-12T14:29:32Z</dcterms:created>
  <dcterms:modified xsi:type="dcterms:W3CDTF">2019-08-08T15:30:36Z</dcterms:modified>
</cp:coreProperties>
</file>